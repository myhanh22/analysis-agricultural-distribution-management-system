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uli Semi-Bold" charset="1" panose="00000700000000000000"/>
      <p:regular r:id="rId19"/>
    </p:embeddedFont>
    <p:embeddedFont>
      <p:font typeface="Saira ExtraCondensed Bold" charset="1" panose="00000808000000000000"/>
      <p:regular r:id="rId20"/>
    </p:embeddedFont>
    <p:embeddedFont>
      <p:font typeface="Muli Bold" charset="1" panose="00000800000000000000"/>
      <p:regular r:id="rId21"/>
    </p:embeddedFont>
    <p:embeddedFont>
      <p:font typeface="Muli" charset="1" panose="00000500000000000000"/>
      <p:regular r:id="rId22"/>
    </p:embeddedFont>
    <p:embeddedFont>
      <p:font typeface="Muli Light" charset="1" panose="00000400000000000000"/>
      <p:regular r:id="rId23"/>
    </p:embeddedFont>
    <p:embeddedFont>
      <p:font typeface="Muli Italics" charset="1" panose="00000500000000000000"/>
      <p:regular r:id="rId24"/>
    </p:embeddedFont>
    <p:embeddedFont>
      <p:font typeface="Muli Semi-Bold Italics" charset="1" panose="00000700000000000000"/>
      <p:regular r:id="rId25"/>
    </p:embeddedFont>
    <p:embeddedFont>
      <p:font typeface="Saira ExtraCondensed" charset="1" panose="00000508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-3270436">
            <a:off x="9315878" y="102642"/>
            <a:ext cx="12098771" cy="6654453"/>
            <a:chOff x="0" y="0"/>
            <a:chExt cx="4060919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44173" y="1008740"/>
            <a:ext cx="4615041" cy="717383"/>
            <a:chOff x="0" y="0"/>
            <a:chExt cx="6153387" cy="956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98062" y="94312"/>
              <a:ext cx="4755325" cy="74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</a:pPr>
              <a:r>
                <a:rPr lang="en-US" sz="1701" b="true">
                  <a:solidFill>
                    <a:srgbClr val="000000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Business Analysis Portfolio Deck</a:t>
              </a:r>
            </a:p>
            <a:p>
              <a:pPr algn="l">
                <a:lnSpc>
                  <a:spcPts val="238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833712"/>
            <a:ext cx="13273401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b="true" sz="15000" spc="-675">
                <a:solidFill>
                  <a:srgbClr val="48B281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AGRI</a:t>
            </a:r>
            <a:r>
              <a:rPr lang="en-US" b="true" sz="15000" spc="-675">
                <a:solidFill>
                  <a:srgbClr val="00000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CULTURAL PRODUCT </a:t>
            </a:r>
            <a:r>
              <a:rPr lang="en-US" b="true" sz="15000" spc="-675">
                <a:solidFill>
                  <a:srgbClr val="48B281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DIST</a:t>
            </a:r>
            <a:r>
              <a:rPr lang="en-US" b="true" sz="15000" spc="-675">
                <a:solidFill>
                  <a:srgbClr val="00000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RIBUTION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272588"/>
            <a:ext cx="82957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Prepared by: Pham Thi My Hanh | Business Analyst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B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-25047" r="0" b="-2504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7554" y="730685"/>
            <a:ext cx="5893541" cy="1769215"/>
            <a:chOff x="0" y="0"/>
            <a:chExt cx="7440313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7402340" cy="2195449"/>
            </a:xfrm>
            <a:custGeom>
              <a:avLst/>
              <a:gdLst/>
              <a:ahLst/>
              <a:cxnLst/>
              <a:rect r="r" b="b" t="t" l="l"/>
              <a:pathLst>
                <a:path h="2195449" w="7402340">
                  <a:moveTo>
                    <a:pt x="6304424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6304552" y="0"/>
                  </a:lnTo>
                  <a:cubicBezTo>
                    <a:pt x="6910849" y="0"/>
                    <a:pt x="7402340" y="491490"/>
                    <a:pt x="7402340" y="1097788"/>
                  </a:cubicBezTo>
                  <a:cubicBezTo>
                    <a:pt x="7402213" y="1703959"/>
                    <a:pt x="6910722" y="2195449"/>
                    <a:pt x="6304424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40313" cy="2233549"/>
            </a:xfrm>
            <a:custGeom>
              <a:avLst/>
              <a:gdLst/>
              <a:ahLst/>
              <a:cxnLst/>
              <a:rect r="r" b="b" t="t" l="l"/>
              <a:pathLst>
                <a:path h="2233549" w="7440313">
                  <a:moveTo>
                    <a:pt x="6323474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6323602" y="0"/>
                  </a:lnTo>
                  <a:cubicBezTo>
                    <a:pt x="6939297" y="0"/>
                    <a:pt x="7440313" y="501015"/>
                    <a:pt x="7440313" y="1116838"/>
                  </a:cubicBezTo>
                  <a:cubicBezTo>
                    <a:pt x="7440313" y="1732534"/>
                    <a:pt x="6939297" y="2233549"/>
                    <a:pt x="6323474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6323602" y="2195576"/>
                  </a:lnTo>
                  <a:cubicBezTo>
                    <a:pt x="6918343" y="2195576"/>
                    <a:pt x="7402340" y="1711706"/>
                    <a:pt x="7402340" y="1116838"/>
                  </a:cubicBezTo>
                  <a:cubicBezTo>
                    <a:pt x="7402213" y="521970"/>
                    <a:pt x="6918342" y="38100"/>
                    <a:pt x="6323474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60223" y="1005692"/>
            <a:ext cx="548087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b="true" sz="8000" spc="-160">
                <a:solidFill>
                  <a:srgbClr val="FFFFFF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Project Overview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14421" y="245625"/>
            <a:ext cx="6026895" cy="11521560"/>
            <a:chOff x="0" y="0"/>
            <a:chExt cx="8035860" cy="1536207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8035860" cy="256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20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Project vision 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 Digitalizing the end-to-end B2B agricultural distribution framework from central aggregation hubs to regional retail networks (Dealers).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564086"/>
              <a:ext cx="8035860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true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Domain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Supply Chain, warehouse, logistics</a:t>
              </a:r>
            </a:p>
            <a:p>
              <a:pPr algn="l">
                <a:lnSpc>
                  <a:spcPts val="3080"/>
                </a:lnSpc>
              </a:pPr>
            </a:p>
            <a:p>
              <a:pPr algn="l">
                <a:lnSpc>
                  <a:spcPts val="308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380186"/>
              <a:ext cx="8035860" cy="256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20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Scope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Partner management (suppliers, dealers), order management, inventory, transportation, accounts receivable and payments.</a:t>
              </a:r>
            </a:p>
            <a:p>
              <a:pPr algn="l">
                <a:lnSpc>
                  <a:spcPts val="3080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268166"/>
              <a:ext cx="803586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20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Team size</a:t>
              </a: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: 2 ( 1 BA &amp; 1 Dev )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236366"/>
              <a:ext cx="8035860" cy="4649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20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My Responsibilities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Conducted business process and requirement analysis.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Designed AS-IS / TO-BE workflows and BA documentation.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Created user stories, use cases, and wireframes.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Proposed operational improvement solutions.</a:t>
              </a:r>
            </a:p>
            <a:p>
              <a:pPr algn="ctr">
                <a:lnSpc>
                  <a:spcPts val="308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4877786"/>
              <a:ext cx="803586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1898" y="6145754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430162" y="1302110"/>
          <a:ext cx="11181366" cy="7203715"/>
        </p:xfrm>
        <a:graphic>
          <a:graphicData uri="http://schemas.openxmlformats.org/drawingml/2006/table">
            <a:tbl>
              <a:tblPr/>
              <a:tblGrid>
                <a:gridCol w="5590683"/>
                <a:gridCol w="5590683"/>
              </a:tblGrid>
              <a:tr h="36164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 Light"/>
                          <a:ea typeface="Muli Light"/>
                          <a:cs typeface="Muli Light"/>
                          <a:sym typeface="Muli Light"/>
                        </a:rPr>
                        <a:t>Manual Operations: Relying on Zalo/Phone/Excel leads to data fragmentation and order inaccuracy.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 Light"/>
                          <a:ea typeface="Muli Light"/>
                          <a:cs typeface="Muli Light"/>
                          <a:sym typeface="Muli Light"/>
                        </a:rPr>
                        <a:t>Inventory Blind Spots: Lack of batch/expiration tracking spikes fresh produce spoilage (15-20%).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35872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 Light"/>
                          <a:ea typeface="Muli Light"/>
                          <a:cs typeface="Muli Light"/>
                          <a:sym typeface="Muli Light"/>
                        </a:rPr>
                        <a:t>Financial Friction: Delayed paper-based debt reconciliation locks up working capital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 Light"/>
                          <a:ea typeface="Muli Light"/>
                          <a:cs typeface="Muli Light"/>
                          <a:sym typeface="Muli Light"/>
                        </a:rPr>
                        <a:t>Lack of a transportation management system (TMS) and real-time order status update application.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5617092"/>
            <a:ext cx="51038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00000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BUSINESS PROBLEMS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4173" y="1008740"/>
            <a:ext cx="4499791" cy="717383"/>
            <a:chOff x="0" y="0"/>
            <a:chExt cx="5999722" cy="956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98062" y="291162"/>
              <a:ext cx="4601659" cy="355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b="true" sz="1701">
                  <a:solidFill>
                    <a:srgbClr val="000000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Business Analysis Portfolio Deck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8670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-3270436">
            <a:off x="-3819097" y="5388148"/>
            <a:ext cx="12098771" cy="6654453"/>
            <a:chOff x="0" y="0"/>
            <a:chExt cx="4060919" cy="2233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4173" y="1008740"/>
            <a:ext cx="4894554" cy="717383"/>
            <a:chOff x="0" y="0"/>
            <a:chExt cx="6526072" cy="9565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98062" y="291162"/>
              <a:ext cx="5128009" cy="355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b="true" sz="170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Business Analysis Portfolio Deck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86701" y="0"/>
            <a:ext cx="4507295" cy="10287000"/>
          </a:xfrm>
          <a:custGeom>
            <a:avLst/>
            <a:gdLst/>
            <a:ahLst/>
            <a:cxnLst/>
            <a:rect r="r" b="b" t="t" l="l"/>
            <a:pathLst>
              <a:path h="10287000" w="4507295">
                <a:moveTo>
                  <a:pt x="0" y="0"/>
                </a:moveTo>
                <a:lnTo>
                  <a:pt x="4507294" y="0"/>
                </a:lnTo>
                <a:lnTo>
                  <a:pt x="45072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02" t="0" r="-351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93995" y="0"/>
            <a:ext cx="5346943" cy="6340978"/>
          </a:xfrm>
          <a:custGeom>
            <a:avLst/>
            <a:gdLst/>
            <a:ahLst/>
            <a:cxnLst/>
            <a:rect r="r" b="b" t="t" l="l"/>
            <a:pathLst>
              <a:path h="6340978" w="5346943">
                <a:moveTo>
                  <a:pt x="0" y="0"/>
                </a:moveTo>
                <a:lnTo>
                  <a:pt x="5346943" y="0"/>
                </a:lnTo>
                <a:lnTo>
                  <a:pt x="5346943" y="6340978"/>
                </a:lnTo>
                <a:lnTo>
                  <a:pt x="0" y="634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67018" y="3980464"/>
            <a:ext cx="3441156" cy="6026830"/>
          </a:xfrm>
          <a:custGeom>
            <a:avLst/>
            <a:gdLst/>
            <a:ahLst/>
            <a:cxnLst/>
            <a:rect r="r" b="b" t="t" l="l"/>
            <a:pathLst>
              <a:path h="6026830" w="3441156">
                <a:moveTo>
                  <a:pt x="0" y="0"/>
                </a:moveTo>
                <a:lnTo>
                  <a:pt x="3441156" y="0"/>
                </a:lnTo>
                <a:lnTo>
                  <a:pt x="3441156" y="6026829"/>
                </a:lnTo>
                <a:lnTo>
                  <a:pt x="0" y="6026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36663" y="5315945"/>
            <a:ext cx="8183849" cy="2695469"/>
            <a:chOff x="0" y="0"/>
            <a:chExt cx="10911799" cy="35939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1091179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000000"/>
                  </a:solidFill>
                  <a:latin typeface="Saira ExtraCondensed Bold"/>
                  <a:ea typeface="Saira ExtraCondensed Bold"/>
                  <a:cs typeface="Saira ExtraCondensed Bold"/>
                  <a:sym typeface="Saira ExtraCondensed Bold"/>
                </a:rPr>
                <a:t>AS-IS WORKFLOW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118556"/>
              <a:ext cx="10911799" cy="47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191174"/>
              <a:ext cx="10911799" cy="546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87135" y="-9285764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0" y="8882062"/>
            <a:ext cx="18288000" cy="1404938"/>
          </a:xfrm>
          <a:prstGeom prst="rect">
            <a:avLst/>
          </a:prstGeom>
          <a:solidFill>
            <a:srgbClr val="F1EEEE"/>
          </a:solidFill>
        </p:spPr>
      </p:sp>
      <p:sp>
        <p:nvSpPr>
          <p:cNvPr name="AutoShape 5" id="5"/>
          <p:cNvSpPr/>
          <p:nvPr/>
        </p:nvSpPr>
        <p:spPr>
          <a:xfrm flipV="true">
            <a:off x="5393048" y="4157467"/>
            <a:ext cx="42748" cy="320291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10676723" y="6208899"/>
            <a:ext cx="267372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388285" y="1257267"/>
            <a:ext cx="751142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GAP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647362"/>
            <a:ext cx="4752265" cy="180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225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GAP-01</a:t>
            </a:r>
          </a:p>
          <a:p>
            <a:pPr algn="ctr">
              <a:lnSpc>
                <a:spcPts val="2892"/>
              </a:lnSpc>
            </a:pPr>
            <a:r>
              <a:rPr lang="en-US" sz="2225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Lack of a centralized data management system.</a:t>
            </a:r>
          </a:p>
          <a:p>
            <a:pPr algn="ctr">
              <a:lnSpc>
                <a:spcPts val="2892"/>
              </a:lnSpc>
            </a:pPr>
            <a:r>
              <a:rPr lang="en-US" sz="2225" i="true">
                <a:solidFill>
                  <a:srgbClr val="000000"/>
                </a:solidFill>
                <a:latin typeface="Muli Italics"/>
                <a:ea typeface="Muli Italics"/>
                <a:cs typeface="Muli Italics"/>
                <a:sym typeface="Muli Italics"/>
              </a:rPr>
              <a:t>Very High</a:t>
            </a:r>
          </a:p>
          <a:p>
            <a:pPr algn="ctr">
              <a:lnSpc>
                <a:spcPts val="28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982365"/>
            <a:ext cx="4752265" cy="216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225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GAP-02</a:t>
            </a:r>
          </a:p>
          <a:p>
            <a:pPr algn="ctr">
              <a:lnSpc>
                <a:spcPts val="2892"/>
              </a:lnSpc>
            </a:pPr>
            <a:r>
              <a:rPr lang="en-US" sz="2225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Manual inventory management process, leading to a high waste/loss rate.</a:t>
            </a:r>
          </a:p>
          <a:p>
            <a:pPr algn="ctr">
              <a:lnSpc>
                <a:spcPts val="2892"/>
              </a:lnSpc>
            </a:pPr>
            <a:r>
              <a:rPr lang="en-US" sz="2225" i="true">
                <a:solidFill>
                  <a:srgbClr val="000000"/>
                </a:solidFill>
                <a:latin typeface="Muli Italics"/>
                <a:ea typeface="Muli Italics"/>
                <a:cs typeface="Muli Italics"/>
                <a:sym typeface="Muli Italics"/>
              </a:rPr>
              <a:t>Very High</a:t>
            </a:r>
          </a:p>
          <a:p>
            <a:pPr algn="ctr">
              <a:lnSpc>
                <a:spcPts val="289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494596" y="4538108"/>
            <a:ext cx="4752265" cy="180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225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GAP-05</a:t>
            </a:r>
          </a:p>
          <a:p>
            <a:pPr algn="ctr">
              <a:lnSpc>
                <a:spcPts val="2892"/>
              </a:lnSpc>
            </a:pPr>
            <a:r>
              <a:rPr lang="en-US" sz="2225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Delayed reporting and a lack of forecasting capability.</a:t>
            </a:r>
          </a:p>
          <a:p>
            <a:pPr algn="ctr">
              <a:lnSpc>
                <a:spcPts val="2892"/>
              </a:lnSpc>
            </a:pPr>
            <a:r>
              <a:rPr lang="en-US" sz="2225" i="true">
                <a:solidFill>
                  <a:srgbClr val="000000"/>
                </a:solidFill>
                <a:latin typeface="Muli Italics"/>
                <a:ea typeface="Muli Italics"/>
                <a:cs typeface="Muli Italics"/>
                <a:sym typeface="Muli Italics"/>
              </a:rPr>
              <a:t>Medium</a:t>
            </a:r>
          </a:p>
          <a:p>
            <a:pPr algn="ctr">
              <a:lnSpc>
                <a:spcPts val="289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507035" y="6700560"/>
            <a:ext cx="4752265" cy="180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225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GAP-06</a:t>
            </a:r>
          </a:p>
          <a:p>
            <a:pPr algn="ctr">
              <a:lnSpc>
                <a:spcPts val="2892"/>
              </a:lnSpc>
            </a:pPr>
            <a:r>
              <a:rPr lang="en-US" sz="2225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Digital skill barriers among internal staff and external partners.</a:t>
            </a:r>
          </a:p>
          <a:p>
            <a:pPr algn="ctr">
              <a:lnSpc>
                <a:spcPts val="2892"/>
              </a:lnSpc>
            </a:pPr>
            <a:r>
              <a:rPr lang="en-US" sz="2225" i="true">
                <a:solidFill>
                  <a:srgbClr val="000000"/>
                </a:solidFill>
                <a:latin typeface="Muli Italics"/>
                <a:ea typeface="Muli Italics"/>
                <a:cs typeface="Muli Italics"/>
                <a:sym typeface="Muli Italics"/>
              </a:rPr>
              <a:t>High</a:t>
            </a:r>
          </a:p>
          <a:p>
            <a:pPr algn="ctr">
              <a:lnSpc>
                <a:spcPts val="289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140510" y="6640726"/>
            <a:ext cx="4752265" cy="180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225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GAP-04</a:t>
            </a:r>
          </a:p>
          <a:p>
            <a:pPr algn="ctr">
              <a:lnSpc>
                <a:spcPts val="2892"/>
              </a:lnSpc>
            </a:pPr>
            <a:r>
              <a:rPr lang="en-US" sz="2225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Lack of real-time transportation monitoring capabilities.</a:t>
            </a:r>
          </a:p>
          <a:p>
            <a:pPr algn="ctr">
              <a:lnSpc>
                <a:spcPts val="2892"/>
              </a:lnSpc>
            </a:pPr>
            <a:r>
              <a:rPr lang="en-US" sz="2225" i="true">
                <a:solidFill>
                  <a:srgbClr val="000000"/>
                </a:solidFill>
                <a:latin typeface="Muli Italics"/>
                <a:ea typeface="Muli Italics"/>
                <a:cs typeface="Muli Italics"/>
                <a:sym typeface="Muli Italics"/>
              </a:rPr>
              <a:t>Medium</a:t>
            </a:r>
          </a:p>
          <a:p>
            <a:pPr algn="ctr">
              <a:lnSpc>
                <a:spcPts val="289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302800" y="4538108"/>
            <a:ext cx="4752265" cy="180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225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GAP-03</a:t>
            </a:r>
          </a:p>
          <a:p>
            <a:pPr algn="ctr">
              <a:lnSpc>
                <a:spcPts val="2892"/>
              </a:lnSpc>
            </a:pPr>
            <a:r>
              <a:rPr lang="en-US" sz="2225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Risk of discrepancies in accounts receivable (debt) and financial data.</a:t>
            </a:r>
          </a:p>
          <a:p>
            <a:pPr algn="ctr">
              <a:lnSpc>
                <a:spcPts val="2892"/>
              </a:lnSpc>
            </a:pPr>
            <a:r>
              <a:rPr lang="en-US" sz="2225" i="true">
                <a:solidFill>
                  <a:srgbClr val="000000"/>
                </a:solidFill>
                <a:latin typeface="Muli Italics"/>
                <a:ea typeface="Muli Italics"/>
                <a:cs typeface="Muli Italics"/>
                <a:sym typeface="Muli Italics"/>
              </a:rPr>
              <a:t>High</a:t>
            </a:r>
          </a:p>
          <a:p>
            <a:pPr algn="ctr">
              <a:lnSpc>
                <a:spcPts val="289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48701" y="5421854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89" y="0"/>
                </a:lnTo>
                <a:lnTo>
                  <a:pt x="10471589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83024" y="-4748625"/>
            <a:ext cx="10170480" cy="1017048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1028700"/>
          <a:ext cx="16202025" cy="6737624"/>
        </p:xfrm>
        <a:graphic>
          <a:graphicData uri="http://schemas.openxmlformats.org/drawingml/2006/table">
            <a:tbl>
              <a:tblPr/>
              <a:tblGrid>
                <a:gridCol w="4050506"/>
                <a:gridCol w="4060037"/>
                <a:gridCol w="4040976"/>
                <a:gridCol w="4050506"/>
              </a:tblGrid>
              <a:tr h="2003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sz="6000" b="true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b="true" sz="6000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W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sz="6000" b="true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O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sz="6000" b="true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4734542"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Established Network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Deep Product Knowledge</a:t>
                      </a:r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Well-Defined As-Is Processes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Legacy Management System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High Inventory Loss Rate</a:t>
                      </a:r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Communication Silos</a:t>
                      </a:r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Poor Scalability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Digital Transformation Trends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Growing Demand for Transparency</a:t>
                      </a:r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Data-Driven Application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Fierce Competition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Market Volatility and Natural Disasters</a:t>
                      </a:r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Regulatory Compliance and Food Safety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3733175" y="8505825"/>
            <a:ext cx="3497550" cy="752475"/>
            <a:chOff x="0" y="0"/>
            <a:chExt cx="4663400" cy="1003300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4663400" cy="0"/>
            </a:xfrm>
            <a:prstGeom prst="line">
              <a:avLst/>
            </a:prstGeom>
            <a:ln cap="rnd" w="1003300">
              <a:solidFill>
                <a:srgbClr val="68D6A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745706" y="357717"/>
              <a:ext cx="3171988" cy="278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7"/>
                </a:lnSpc>
              </a:pPr>
              <a:r>
                <a:rPr lang="en-US" sz="1375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Back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497707" cy="10287000"/>
          </a:xfrm>
          <a:custGeom>
            <a:avLst/>
            <a:gdLst/>
            <a:ahLst/>
            <a:cxnLst/>
            <a:rect r="r" b="b" t="t" l="l"/>
            <a:pathLst>
              <a:path h="10287000" w="5497707">
                <a:moveTo>
                  <a:pt x="0" y="0"/>
                </a:moveTo>
                <a:lnTo>
                  <a:pt x="5497707" y="0"/>
                </a:lnTo>
                <a:lnTo>
                  <a:pt x="549770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32" t="0" r="-1233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97707" y="0"/>
            <a:ext cx="11141295" cy="10532373"/>
          </a:xfrm>
          <a:custGeom>
            <a:avLst/>
            <a:gdLst/>
            <a:ahLst/>
            <a:cxnLst/>
            <a:rect r="r" b="b" t="t" l="l"/>
            <a:pathLst>
              <a:path h="10532373" w="11141295">
                <a:moveTo>
                  <a:pt x="0" y="0"/>
                </a:moveTo>
                <a:lnTo>
                  <a:pt x="11141295" y="0"/>
                </a:lnTo>
                <a:lnTo>
                  <a:pt x="11141295" y="10532373"/>
                </a:lnTo>
                <a:lnTo>
                  <a:pt x="0" y="10532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5" r="0" b="-225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789" y="0"/>
            <a:ext cx="1023783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00000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SUGGEST SOLUTION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8692169"/>
            <a:ext cx="18288000" cy="1594831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023519"/>
            <a:ext cx="18352169" cy="1812277"/>
          </a:xfrm>
          <a:custGeom>
            <a:avLst/>
            <a:gdLst/>
            <a:ahLst/>
            <a:cxnLst/>
            <a:rect r="r" b="b" t="t" l="l"/>
            <a:pathLst>
              <a:path h="1812277" w="18352169">
                <a:moveTo>
                  <a:pt x="0" y="0"/>
                </a:moveTo>
                <a:lnTo>
                  <a:pt x="18352169" y="0"/>
                </a:lnTo>
                <a:lnTo>
                  <a:pt x="18352169" y="1812277"/>
                </a:lnTo>
                <a:lnTo>
                  <a:pt x="0" y="1812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8541" y="5769246"/>
            <a:ext cx="18952275" cy="3344101"/>
          </a:xfrm>
          <a:custGeom>
            <a:avLst/>
            <a:gdLst/>
            <a:ahLst/>
            <a:cxnLst/>
            <a:rect r="r" b="b" t="t" l="l"/>
            <a:pathLst>
              <a:path h="3344101" w="18952275">
                <a:moveTo>
                  <a:pt x="0" y="0"/>
                </a:moveTo>
                <a:lnTo>
                  <a:pt x="18952275" y="0"/>
                </a:lnTo>
                <a:lnTo>
                  <a:pt x="18952275" y="3344101"/>
                </a:lnTo>
                <a:lnTo>
                  <a:pt x="0" y="3344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4623" y="1028700"/>
            <a:ext cx="1443875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00000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TO - BE WORKFLOW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7586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5611" y="3996189"/>
            <a:ext cx="4911328" cy="2109099"/>
            <a:chOff x="0" y="0"/>
            <a:chExt cx="6548437" cy="281213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6548437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Saira ExtraCondensed Bold"/>
                  <a:ea typeface="Saira ExtraCondensed Bold"/>
                  <a:cs typeface="Saira ExtraCondensed Bold"/>
                  <a:sym typeface="Saira ExtraCondensed Bold"/>
                </a:rPr>
                <a:t>FUNCTIONAL SCOPE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425417"/>
              <a:ext cx="6548437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401603" y="1645234"/>
            <a:ext cx="12044579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48B281"/>
                </a:solidFill>
                <a:latin typeface="Muli Bold"/>
                <a:ea typeface="Muli Bold"/>
                <a:cs typeface="Muli Bold"/>
                <a:sym typeface="Muli Bold"/>
              </a:rPr>
              <a:t>Delivery Management</a:t>
            </a:r>
          </a:p>
          <a:p>
            <a:pPr algn="ctr">
              <a:lnSpc>
                <a:spcPts val="3380"/>
              </a:lnSpc>
            </a:pPr>
            <a:r>
              <a:rPr lang="en-US" b="true" sz="2600" i="true">
                <a:solidFill>
                  <a:srgbClr val="000000"/>
                </a:solidFill>
                <a:latin typeface="Muli Semi-Bold Italics"/>
                <a:ea typeface="Muli Semi-Bold Italics"/>
                <a:cs typeface="Muli Semi-Bold Italics"/>
                <a:sym typeface="Muli Semi-Bold Italics"/>
              </a:rPr>
              <a:t>Coordinate shipment assignments, monitor realtime delivery tracking, and support electronic delivery confirmation</a:t>
            </a:r>
          </a:p>
          <a:p>
            <a:pPr algn="ctr">
              <a:lnSpc>
                <a:spcPts val="3380"/>
              </a:lnSpc>
            </a:pPr>
          </a:p>
          <a:p>
            <a:pPr algn="l">
              <a:lnSpc>
                <a:spcPts val="3380"/>
              </a:lnSpc>
            </a:pPr>
          </a:p>
          <a:p>
            <a:pPr algn="l">
              <a:lnSpc>
                <a:spcPts val="3380"/>
              </a:lnSpc>
            </a:pPr>
          </a:p>
          <a:p>
            <a:pPr algn="l">
              <a:lnSpc>
                <a:spcPts val="33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652531" y="168910"/>
            <a:ext cx="11635469" cy="17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48B281"/>
                </a:solidFill>
                <a:latin typeface="Muli Bold"/>
                <a:ea typeface="Muli Bold"/>
                <a:cs typeface="Muli Bold"/>
                <a:sym typeface="Muli Bold"/>
              </a:rPr>
              <a:t>Warehouse Operations</a:t>
            </a:r>
          </a:p>
          <a:p>
            <a:pPr algn="ctr">
              <a:lnSpc>
                <a:spcPts val="3380"/>
              </a:lnSpc>
            </a:pPr>
            <a:r>
              <a:rPr lang="en-US" b="true" sz="2600" i="true">
                <a:solidFill>
                  <a:srgbClr val="000000"/>
                </a:solidFill>
                <a:latin typeface="Muli Semi-Bold Italics"/>
                <a:ea typeface="Muli Semi-Bold Italics"/>
                <a:cs typeface="Muli Semi-Bold Italics"/>
                <a:sym typeface="Muli Semi-Bold Italics"/>
              </a:rPr>
              <a:t>Support goods receiving, quality inspection, inventory classification, packing, and shipment preparation</a:t>
            </a:r>
          </a:p>
          <a:p>
            <a:pPr algn="ctr">
              <a:lnSpc>
                <a:spcPts val="33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401603" y="6402786"/>
            <a:ext cx="12158154" cy="17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48B281"/>
                </a:solidFill>
                <a:latin typeface="Muli Bold"/>
                <a:ea typeface="Muli Bold"/>
                <a:cs typeface="Muli Bold"/>
                <a:sym typeface="Muli Bold"/>
              </a:rPr>
              <a:t>Order Management</a:t>
            </a:r>
          </a:p>
          <a:p>
            <a:pPr algn="ctr">
              <a:lnSpc>
                <a:spcPts val="3380"/>
              </a:lnSpc>
            </a:pPr>
            <a:r>
              <a:rPr lang="en-US" b="true" sz="2600" i="true">
                <a:solidFill>
                  <a:srgbClr val="000000"/>
                </a:solidFill>
                <a:latin typeface="Muli Semi-Bold Italics"/>
                <a:ea typeface="Muli Semi-Bold Italics"/>
                <a:cs typeface="Muli Semi-Bold Italics"/>
                <a:sym typeface="Muli Semi-Bold Italics"/>
              </a:rPr>
              <a:t>Create distributor orders, verify inventory availability, process order status, and manage order workflows</a:t>
            </a:r>
          </a:p>
          <a:p>
            <a:pPr algn="l">
              <a:lnSpc>
                <a:spcPts val="33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652531" y="4887714"/>
            <a:ext cx="11635469" cy="17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48B281"/>
                </a:solidFill>
                <a:latin typeface="Muli Bold"/>
                <a:ea typeface="Muli Bold"/>
                <a:cs typeface="Muli Bold"/>
                <a:sym typeface="Muli Bold"/>
              </a:rPr>
              <a:t>Inventory Management</a:t>
            </a:r>
          </a:p>
          <a:p>
            <a:pPr algn="ctr">
              <a:lnSpc>
                <a:spcPts val="3380"/>
              </a:lnSpc>
            </a:pPr>
            <a:r>
              <a:rPr lang="en-US" b="true" sz="2600" i="true">
                <a:solidFill>
                  <a:srgbClr val="000000"/>
                </a:solidFill>
                <a:latin typeface="Muli Semi-Bold Italics"/>
                <a:ea typeface="Muli Semi-Bold Italics"/>
                <a:cs typeface="Muli Semi-Bold Italics"/>
                <a:sym typeface="Muli Semi-Bold Italics"/>
              </a:rPr>
              <a:t>Monitor realtime inventory, track stock movement, generate low-stock alerts, and create electronic warehouse receipts</a:t>
            </a:r>
          </a:p>
          <a:p>
            <a:pPr algn="ctr">
              <a:lnSpc>
                <a:spcPts val="33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652531" y="3316618"/>
            <a:ext cx="12020803" cy="212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48B281"/>
                </a:solidFill>
                <a:latin typeface="Muli Bold"/>
                <a:ea typeface="Muli Bold"/>
                <a:cs typeface="Muli Bold"/>
                <a:sym typeface="Muli Bold"/>
              </a:rPr>
              <a:t>Procurement Management</a:t>
            </a:r>
          </a:p>
          <a:p>
            <a:pPr algn="ctr">
              <a:lnSpc>
                <a:spcPts val="3380"/>
              </a:lnSpc>
            </a:pPr>
            <a:r>
              <a:rPr lang="en-US" b="true" sz="2600" i="true">
                <a:solidFill>
                  <a:srgbClr val="000000"/>
                </a:solidFill>
                <a:latin typeface="Muli Semi-Bold Italics"/>
                <a:ea typeface="Muli Semi-Bold Italics"/>
                <a:cs typeface="Muli Semi-Bold Italics"/>
                <a:sym typeface="Muli Semi-Bold Italics"/>
              </a:rPr>
              <a:t>Create purchase orders, monitor procurement status, approve inbound operations, and coordinate supplier deliveries</a:t>
            </a:r>
          </a:p>
          <a:p>
            <a:pPr algn="ctr">
              <a:lnSpc>
                <a:spcPts val="3380"/>
              </a:lnSpc>
            </a:pPr>
          </a:p>
          <a:p>
            <a:pPr algn="l">
              <a:lnSpc>
                <a:spcPts val="33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652531" y="8360491"/>
            <a:ext cx="11635469" cy="17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48B281"/>
                </a:solidFill>
                <a:latin typeface="Muli Bold"/>
                <a:ea typeface="Muli Bold"/>
                <a:cs typeface="Muli Bold"/>
                <a:sym typeface="Muli Bold"/>
              </a:rPr>
              <a:t>Payment &amp; Reconciliation</a:t>
            </a:r>
          </a:p>
          <a:p>
            <a:pPr algn="ctr">
              <a:lnSpc>
                <a:spcPts val="3380"/>
              </a:lnSpc>
            </a:pPr>
            <a:r>
              <a:rPr lang="en-US" b="true" sz="2600" i="true">
                <a:solidFill>
                  <a:srgbClr val="000000"/>
                </a:solidFill>
                <a:latin typeface="Muli Semi-Bold Italics"/>
                <a:ea typeface="Muli Semi-Bold Italics"/>
                <a:cs typeface="Muli Semi-Bold Italics"/>
                <a:sym typeface="Muli Semi-Bold Italics"/>
              </a:rPr>
              <a:t>Track supplier and distributor debt, monitor payment status, synchronize financial records, and support automatic reconciliation</a:t>
            </a:r>
          </a:p>
          <a:p>
            <a:pPr algn="ctr">
              <a:lnSpc>
                <a:spcPts val="33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7586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4173" y="1008740"/>
            <a:ext cx="4592677" cy="717383"/>
            <a:chOff x="0" y="0"/>
            <a:chExt cx="6123569" cy="9565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398062" y="291162"/>
              <a:ext cx="4725506" cy="355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b="true" sz="170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Business Analysis Portfolio Deck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45969" y="0"/>
            <a:ext cx="7219284" cy="9739337"/>
          </a:xfrm>
          <a:custGeom>
            <a:avLst/>
            <a:gdLst/>
            <a:ahLst/>
            <a:cxnLst/>
            <a:rect r="r" b="b" t="t" l="l"/>
            <a:pathLst>
              <a:path h="9739337" w="7219284">
                <a:moveTo>
                  <a:pt x="0" y="0"/>
                </a:moveTo>
                <a:lnTo>
                  <a:pt x="7219284" y="0"/>
                </a:lnTo>
                <a:lnTo>
                  <a:pt x="7219284" y="9739337"/>
                </a:lnTo>
                <a:lnTo>
                  <a:pt x="0" y="9739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557588"/>
            <a:ext cx="5343722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USE CASE DIAGRAM</a:t>
            </a:r>
          </a:p>
          <a:p>
            <a:pPr algn="ctr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(GENERAL)</a:t>
            </a:r>
          </a:p>
          <a:p>
            <a:pPr algn="l" marL="0" indent="0" lvl="0">
              <a:lnSpc>
                <a:spcPts val="83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471175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3769382" y="8505825"/>
            <a:ext cx="3497550" cy="752475"/>
            <a:chOff x="0" y="0"/>
            <a:chExt cx="4663400" cy="1003300"/>
          </a:xfrm>
        </p:grpSpPr>
        <p:sp>
          <p:nvSpPr>
            <p:cNvPr name="AutoShape 4" id="4"/>
            <p:cNvSpPr/>
            <p:nvPr/>
          </p:nvSpPr>
          <p:spPr>
            <a:xfrm rot="0">
              <a:off x="0" y="0"/>
              <a:ext cx="4663400" cy="0"/>
            </a:xfrm>
            <a:prstGeom prst="line">
              <a:avLst/>
            </a:prstGeom>
            <a:ln cap="rnd" w="1003300">
              <a:solidFill>
                <a:srgbClr val="68D6A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745706" y="357717"/>
              <a:ext cx="3171988" cy="278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7"/>
                </a:lnSpc>
              </a:pPr>
              <a:r>
                <a:rPr lang="en-US" sz="1375" u="none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Quay lại</a:t>
              </a:r>
              <a:r>
                <a:rPr lang="en-US" b="true" sz="1375" u="none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 Trang Chương trình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168275"/>
            <a:ext cx="5204760" cy="6356958"/>
          </a:xfrm>
          <a:custGeom>
            <a:avLst/>
            <a:gdLst/>
            <a:ahLst/>
            <a:cxnLst/>
            <a:rect r="r" b="b" t="t" l="l"/>
            <a:pathLst>
              <a:path h="6356958" w="5204760">
                <a:moveTo>
                  <a:pt x="0" y="0"/>
                </a:moveTo>
                <a:lnTo>
                  <a:pt x="5204760" y="0"/>
                </a:lnTo>
                <a:lnTo>
                  <a:pt x="520476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345" y="168275"/>
            <a:ext cx="5133244" cy="6356958"/>
          </a:xfrm>
          <a:custGeom>
            <a:avLst/>
            <a:gdLst/>
            <a:ahLst/>
            <a:cxnLst/>
            <a:rect r="r" b="b" t="t" l="l"/>
            <a:pathLst>
              <a:path h="6356958" w="5133244">
                <a:moveTo>
                  <a:pt x="0" y="0"/>
                </a:moveTo>
                <a:lnTo>
                  <a:pt x="5133244" y="0"/>
                </a:lnTo>
                <a:lnTo>
                  <a:pt x="513324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71782" y="1657564"/>
            <a:ext cx="7415611" cy="8389783"/>
          </a:xfrm>
          <a:custGeom>
            <a:avLst/>
            <a:gdLst/>
            <a:ahLst/>
            <a:cxnLst/>
            <a:rect r="r" b="b" t="t" l="l"/>
            <a:pathLst>
              <a:path h="8389783" w="7415611">
                <a:moveTo>
                  <a:pt x="0" y="0"/>
                </a:moveTo>
                <a:lnTo>
                  <a:pt x="7415611" y="0"/>
                </a:lnTo>
                <a:lnTo>
                  <a:pt x="7415611" y="8389783"/>
                </a:lnTo>
                <a:lnTo>
                  <a:pt x="0" y="8389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29" t="0" r="-4729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311236" y="429996"/>
            <a:ext cx="5948064" cy="4165904"/>
            <a:chOff x="0" y="0"/>
            <a:chExt cx="7930751" cy="555453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0481" y="0"/>
              <a:ext cx="7920271" cy="422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WIREFRAME SHOWCASE</a:t>
              </a:r>
            </a:p>
            <a:p>
              <a:pPr algn="l">
                <a:lnSpc>
                  <a:spcPts val="8399"/>
                </a:lnSpc>
              </a:pPr>
            </a:p>
            <a:p>
              <a:pPr algn="l" marL="0" indent="0" lvl="0">
                <a:lnSpc>
                  <a:spcPts val="839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092700"/>
              <a:ext cx="792027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9619" y="6762857"/>
            <a:ext cx="4875026" cy="3095492"/>
          </a:xfrm>
          <a:custGeom>
            <a:avLst/>
            <a:gdLst/>
            <a:ahLst/>
            <a:cxnLst/>
            <a:rect r="r" b="b" t="t" l="l"/>
            <a:pathLst>
              <a:path h="3095492" w="4875026">
                <a:moveTo>
                  <a:pt x="0" y="0"/>
                </a:moveTo>
                <a:lnTo>
                  <a:pt x="4875026" y="0"/>
                </a:lnTo>
                <a:lnTo>
                  <a:pt x="4875026" y="3095492"/>
                </a:lnTo>
                <a:lnTo>
                  <a:pt x="0" y="3095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44670" y="7909574"/>
            <a:ext cx="3586479" cy="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  <a:spcBef>
                <a:spcPct val="0"/>
              </a:spcBef>
            </a:pPr>
            <a:r>
              <a:rPr lang="en-US" sz="1279" i="true">
                <a:solidFill>
                  <a:srgbClr val="000000"/>
                </a:solidFill>
                <a:latin typeface="Muli Italics"/>
                <a:ea typeface="Muli Italics"/>
                <a:cs typeface="Muli Italics"/>
                <a:sym typeface="Muli Italics"/>
              </a:rPr>
              <a:t>Additional interface designs and interaction flows are available in the full project report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751203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AutoShape 3" id="3"/>
          <p:cNvSpPr/>
          <p:nvPr/>
        </p:nvSpPr>
        <p:spPr>
          <a:xfrm rot="0">
            <a:off x="5751203" y="0"/>
            <a:ext cx="12536797" cy="3162300"/>
          </a:xfrm>
          <a:prstGeom prst="rect">
            <a:avLst/>
          </a:prstGeom>
          <a:solidFill>
            <a:srgbClr val="F1EEEE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823235" y="3321544"/>
            <a:ext cx="3939426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139" b="true">
                <a:solidFill>
                  <a:srgbClr val="FFFFFF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Business Value</a:t>
            </a:r>
          </a:p>
          <a:p>
            <a:pPr algn="l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&amp; Operational Risk Reduction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80111" y="3729038"/>
            <a:ext cx="2506383" cy="1315879"/>
            <a:chOff x="0" y="0"/>
            <a:chExt cx="1035847" cy="543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5847" cy="543831"/>
            </a:xfrm>
            <a:custGeom>
              <a:avLst/>
              <a:gdLst/>
              <a:ahLst/>
              <a:cxnLst/>
              <a:rect r="r" b="b" t="t" l="l"/>
              <a:pathLst>
                <a:path h="543831" w="1035847">
                  <a:moveTo>
                    <a:pt x="0" y="0"/>
                  </a:moveTo>
                  <a:lnTo>
                    <a:pt x="1035847" y="0"/>
                  </a:lnTo>
                  <a:lnTo>
                    <a:pt x="1035847" y="543831"/>
                  </a:lnTo>
                  <a:lnTo>
                    <a:pt x="0" y="543831"/>
                  </a:ln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35847" cy="57240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Improve operational efficiency through workflow automation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1736" y="5680009"/>
            <a:ext cx="2410230" cy="2213786"/>
            <a:chOff x="0" y="0"/>
            <a:chExt cx="996109" cy="914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109" cy="914921"/>
            </a:xfrm>
            <a:custGeom>
              <a:avLst/>
              <a:gdLst/>
              <a:ahLst/>
              <a:cxnLst/>
              <a:rect r="r" b="b" t="t" l="l"/>
              <a:pathLst>
                <a:path h="914921" w="996109">
                  <a:moveTo>
                    <a:pt x="498054" y="0"/>
                  </a:moveTo>
                  <a:cubicBezTo>
                    <a:pt x="222987" y="0"/>
                    <a:pt x="0" y="204812"/>
                    <a:pt x="0" y="457461"/>
                  </a:cubicBezTo>
                  <a:cubicBezTo>
                    <a:pt x="0" y="710109"/>
                    <a:pt x="222987" y="914921"/>
                    <a:pt x="498054" y="914921"/>
                  </a:cubicBezTo>
                  <a:cubicBezTo>
                    <a:pt x="773122" y="914921"/>
                    <a:pt x="996109" y="710109"/>
                    <a:pt x="996109" y="457461"/>
                  </a:cubicBezTo>
                  <a:cubicBezTo>
                    <a:pt x="996109" y="204812"/>
                    <a:pt x="773122" y="0"/>
                    <a:pt x="498054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93385" y="57199"/>
              <a:ext cx="809338" cy="77194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Reduce inventory mismatch caused by manual tracking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50627" y="709856"/>
            <a:ext cx="2046564" cy="204656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Business Value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04935" y="709856"/>
            <a:ext cx="2067198" cy="206719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Operational Risk Reduction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63630" y="3679795"/>
            <a:ext cx="2506383" cy="1315879"/>
            <a:chOff x="0" y="0"/>
            <a:chExt cx="1035847" cy="5438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5847" cy="543831"/>
            </a:xfrm>
            <a:custGeom>
              <a:avLst/>
              <a:gdLst/>
              <a:ahLst/>
              <a:cxnLst/>
              <a:rect r="r" b="b" t="t" l="l"/>
              <a:pathLst>
                <a:path h="543831" w="1035847">
                  <a:moveTo>
                    <a:pt x="0" y="0"/>
                  </a:moveTo>
                  <a:lnTo>
                    <a:pt x="1035847" y="0"/>
                  </a:lnTo>
                  <a:lnTo>
                    <a:pt x="1035847" y="543831"/>
                  </a:lnTo>
                  <a:lnTo>
                    <a:pt x="0" y="543831"/>
                  </a:ln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35847" cy="5628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Increase realtime visibility across inventory and delivery operations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460559" y="3704417"/>
            <a:ext cx="2506383" cy="1315879"/>
            <a:chOff x="0" y="0"/>
            <a:chExt cx="1035847" cy="5438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5847" cy="543831"/>
            </a:xfrm>
            <a:custGeom>
              <a:avLst/>
              <a:gdLst/>
              <a:ahLst/>
              <a:cxnLst/>
              <a:rect r="r" b="b" t="t" l="l"/>
              <a:pathLst>
                <a:path h="543831" w="1035847">
                  <a:moveTo>
                    <a:pt x="0" y="0"/>
                  </a:moveTo>
                  <a:lnTo>
                    <a:pt x="1035847" y="0"/>
                  </a:lnTo>
                  <a:lnTo>
                    <a:pt x="1035847" y="543831"/>
                  </a:lnTo>
                  <a:lnTo>
                    <a:pt x="0" y="543831"/>
                  </a:ln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35847" cy="57240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Enhance financial accuracy and reconciliation processes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996591" y="3679795"/>
            <a:ext cx="2506383" cy="1365123"/>
            <a:chOff x="0" y="0"/>
            <a:chExt cx="1035847" cy="5641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5847" cy="564183"/>
            </a:xfrm>
            <a:custGeom>
              <a:avLst/>
              <a:gdLst/>
              <a:ahLst/>
              <a:cxnLst/>
              <a:rect r="r" b="b" t="t" l="l"/>
              <a:pathLst>
                <a:path h="564183" w="1035847">
                  <a:moveTo>
                    <a:pt x="0" y="0"/>
                  </a:moveTo>
                  <a:lnTo>
                    <a:pt x="1035847" y="0"/>
                  </a:lnTo>
                  <a:lnTo>
                    <a:pt x="1035847" y="564183"/>
                  </a:lnTo>
                  <a:lnTo>
                    <a:pt x="0" y="564183"/>
                  </a:ln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35847" cy="5927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Reduce manual workload and processing time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460559" y="5861482"/>
            <a:ext cx="2258724" cy="2032313"/>
            <a:chOff x="0" y="0"/>
            <a:chExt cx="933493" cy="8399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3493" cy="839922"/>
            </a:xfrm>
            <a:custGeom>
              <a:avLst/>
              <a:gdLst/>
              <a:ahLst/>
              <a:cxnLst/>
              <a:rect r="r" b="b" t="t" l="l"/>
              <a:pathLst>
                <a:path h="839922" w="933493">
                  <a:moveTo>
                    <a:pt x="466747" y="0"/>
                  </a:moveTo>
                  <a:cubicBezTo>
                    <a:pt x="208970" y="0"/>
                    <a:pt x="0" y="188023"/>
                    <a:pt x="0" y="419961"/>
                  </a:cubicBezTo>
                  <a:cubicBezTo>
                    <a:pt x="0" y="651899"/>
                    <a:pt x="208970" y="839922"/>
                    <a:pt x="466747" y="839922"/>
                  </a:cubicBezTo>
                  <a:cubicBezTo>
                    <a:pt x="724524" y="839922"/>
                    <a:pt x="933493" y="651899"/>
                    <a:pt x="933493" y="419961"/>
                  </a:cubicBezTo>
                  <a:cubicBezTo>
                    <a:pt x="933493" y="188023"/>
                    <a:pt x="724524" y="0"/>
                    <a:pt x="466747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87515" y="59693"/>
              <a:ext cx="758463" cy="70148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Reduce delayed financial reconciliation and communication gaps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33587" y="5680009"/>
            <a:ext cx="1966688" cy="2032313"/>
            <a:chOff x="0" y="0"/>
            <a:chExt cx="812800" cy="8399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39922"/>
            </a:xfrm>
            <a:custGeom>
              <a:avLst/>
              <a:gdLst/>
              <a:ahLst/>
              <a:cxnLst/>
              <a:rect r="r" b="b" t="t" l="l"/>
              <a:pathLst>
                <a:path h="839922" w="812800">
                  <a:moveTo>
                    <a:pt x="406400" y="0"/>
                  </a:moveTo>
                  <a:cubicBezTo>
                    <a:pt x="181951" y="0"/>
                    <a:pt x="0" y="188023"/>
                    <a:pt x="0" y="419961"/>
                  </a:cubicBezTo>
                  <a:cubicBezTo>
                    <a:pt x="0" y="651899"/>
                    <a:pt x="181951" y="839922"/>
                    <a:pt x="406400" y="839922"/>
                  </a:cubicBezTo>
                  <a:cubicBezTo>
                    <a:pt x="630849" y="839922"/>
                    <a:pt x="812800" y="651899"/>
                    <a:pt x="812800" y="419961"/>
                  </a:cubicBezTo>
                  <a:cubicBezTo>
                    <a:pt x="812800" y="18802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9693"/>
              <a:ext cx="660400" cy="70148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Improve delivery transparency and tracking visibility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26737" y="5680009"/>
            <a:ext cx="2013131" cy="2067013"/>
            <a:chOff x="0" y="0"/>
            <a:chExt cx="831994" cy="8542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31994" cy="854262"/>
            </a:xfrm>
            <a:custGeom>
              <a:avLst/>
              <a:gdLst/>
              <a:ahLst/>
              <a:cxnLst/>
              <a:rect r="r" b="b" t="t" l="l"/>
              <a:pathLst>
                <a:path h="854262" w="831994">
                  <a:moveTo>
                    <a:pt x="415997" y="0"/>
                  </a:moveTo>
                  <a:cubicBezTo>
                    <a:pt x="186248" y="0"/>
                    <a:pt x="0" y="191233"/>
                    <a:pt x="0" y="427131"/>
                  </a:cubicBezTo>
                  <a:cubicBezTo>
                    <a:pt x="0" y="663029"/>
                    <a:pt x="186248" y="854262"/>
                    <a:pt x="415997" y="854262"/>
                  </a:cubicBezTo>
                  <a:cubicBezTo>
                    <a:pt x="645746" y="854262"/>
                    <a:pt x="831994" y="663029"/>
                    <a:pt x="831994" y="427131"/>
                  </a:cubicBezTo>
                  <a:cubicBezTo>
                    <a:pt x="831994" y="191233"/>
                    <a:pt x="645746" y="0"/>
                    <a:pt x="415997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7999" y="51512"/>
              <a:ext cx="675995" cy="72266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Minimize paperwork and data entry errors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7586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189864" y="6953260"/>
            <a:ext cx="2901127" cy="1450563"/>
          </a:xfrm>
          <a:custGeom>
            <a:avLst/>
            <a:gdLst/>
            <a:ahLst/>
            <a:cxnLst/>
            <a:rect r="r" b="b" t="t" l="l"/>
            <a:pathLst>
              <a:path h="1450563" w="2901127">
                <a:moveTo>
                  <a:pt x="0" y="0"/>
                </a:moveTo>
                <a:lnTo>
                  <a:pt x="2901127" y="0"/>
                </a:lnTo>
                <a:lnTo>
                  <a:pt x="2901127" y="1450563"/>
                </a:lnTo>
                <a:lnTo>
                  <a:pt x="0" y="1450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71754" y="7089899"/>
            <a:ext cx="2583173" cy="1291587"/>
          </a:xfrm>
          <a:custGeom>
            <a:avLst/>
            <a:gdLst/>
            <a:ahLst/>
            <a:cxnLst/>
            <a:rect r="r" b="b" t="t" l="l"/>
            <a:pathLst>
              <a:path h="1291587" w="2583173">
                <a:moveTo>
                  <a:pt x="0" y="0"/>
                </a:moveTo>
                <a:lnTo>
                  <a:pt x="2583173" y="0"/>
                </a:lnTo>
                <a:lnTo>
                  <a:pt x="2583173" y="1291586"/>
                </a:lnTo>
                <a:lnTo>
                  <a:pt x="0" y="1291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74841" y="6937804"/>
            <a:ext cx="1536412" cy="1536412"/>
          </a:xfrm>
          <a:custGeom>
            <a:avLst/>
            <a:gdLst/>
            <a:ahLst/>
            <a:cxnLst/>
            <a:rect r="r" b="b" t="t" l="l"/>
            <a:pathLst>
              <a:path h="1536412" w="1536412">
                <a:moveTo>
                  <a:pt x="0" y="0"/>
                </a:moveTo>
                <a:lnTo>
                  <a:pt x="1536412" y="0"/>
                </a:lnTo>
                <a:lnTo>
                  <a:pt x="1536412" y="1536412"/>
                </a:lnTo>
                <a:lnTo>
                  <a:pt x="0" y="1536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68723" y="4493895"/>
            <a:ext cx="1986205" cy="1986205"/>
          </a:xfrm>
          <a:custGeom>
            <a:avLst/>
            <a:gdLst/>
            <a:ahLst/>
            <a:cxnLst/>
            <a:rect r="r" b="b" t="t" l="l"/>
            <a:pathLst>
              <a:path h="1986205" w="1986205">
                <a:moveTo>
                  <a:pt x="0" y="0"/>
                </a:moveTo>
                <a:lnTo>
                  <a:pt x="1986204" y="0"/>
                </a:lnTo>
                <a:lnTo>
                  <a:pt x="1986204" y="1986205"/>
                </a:lnTo>
                <a:lnTo>
                  <a:pt x="0" y="1986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59671" y="4493895"/>
            <a:ext cx="1986205" cy="1986205"/>
          </a:xfrm>
          <a:custGeom>
            <a:avLst/>
            <a:gdLst/>
            <a:ahLst/>
            <a:cxnLst/>
            <a:rect r="r" b="b" t="t" l="l"/>
            <a:pathLst>
              <a:path h="1986205" w="1986205">
                <a:moveTo>
                  <a:pt x="0" y="0"/>
                </a:moveTo>
                <a:lnTo>
                  <a:pt x="1986205" y="0"/>
                </a:lnTo>
                <a:lnTo>
                  <a:pt x="1986205" y="1986205"/>
                </a:lnTo>
                <a:lnTo>
                  <a:pt x="0" y="19862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189864" y="4620052"/>
            <a:ext cx="3189827" cy="1518720"/>
            <a:chOff x="0" y="0"/>
            <a:chExt cx="13398500" cy="63792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98500" cy="6379210"/>
            </a:xfrm>
            <a:custGeom>
              <a:avLst/>
              <a:gdLst/>
              <a:ahLst/>
              <a:cxnLst/>
              <a:rect r="r" b="b" t="t" l="l"/>
              <a:pathLst>
                <a:path h="6379210" w="13398500">
                  <a:moveTo>
                    <a:pt x="6747510" y="0"/>
                  </a:moveTo>
                  <a:lnTo>
                    <a:pt x="6645910" y="0"/>
                  </a:lnTo>
                  <a:lnTo>
                    <a:pt x="6638290" y="7620"/>
                  </a:lnTo>
                  <a:lnTo>
                    <a:pt x="0" y="6379210"/>
                  </a:lnTo>
                  <a:lnTo>
                    <a:pt x="6752590" y="6379210"/>
                  </a:lnTo>
                  <a:lnTo>
                    <a:pt x="13398500" y="0"/>
                  </a:lnTo>
                  <a:close/>
                </a:path>
              </a:pathLst>
            </a:custGeom>
            <a:solidFill>
              <a:srgbClr val="48B28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253167" y="2018719"/>
            <a:ext cx="1771035" cy="1771035"/>
          </a:xfrm>
          <a:custGeom>
            <a:avLst/>
            <a:gdLst/>
            <a:ahLst/>
            <a:cxnLst/>
            <a:rect r="r" b="b" t="t" l="l"/>
            <a:pathLst>
              <a:path h="1771035" w="1771035">
                <a:moveTo>
                  <a:pt x="0" y="0"/>
                </a:moveTo>
                <a:lnTo>
                  <a:pt x="1771035" y="0"/>
                </a:lnTo>
                <a:lnTo>
                  <a:pt x="1771035" y="1771035"/>
                </a:lnTo>
                <a:lnTo>
                  <a:pt x="0" y="17710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189864" y="2293595"/>
            <a:ext cx="3472118" cy="1221283"/>
            <a:chOff x="0" y="0"/>
            <a:chExt cx="6350000" cy="22335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6312027" cy="2195449"/>
            </a:xfrm>
            <a:custGeom>
              <a:avLst/>
              <a:gdLst/>
              <a:ahLst/>
              <a:cxnLst/>
              <a:rect r="r" b="b" t="t" l="l"/>
              <a:pathLst>
                <a:path h="2195449" w="6312027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2233549"/>
            </a:xfrm>
            <a:custGeom>
              <a:avLst/>
              <a:gdLst/>
              <a:ahLst/>
              <a:cxnLst/>
              <a:rect r="r" b="b" t="t" l="l"/>
              <a:pathLst>
                <a:path h="2233549" w="6350000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615387" y="1884466"/>
            <a:ext cx="2039540" cy="2039540"/>
            <a:chOff x="0" y="0"/>
            <a:chExt cx="1708150" cy="1708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1474" y="847125"/>
            <a:ext cx="12634214" cy="11125563"/>
            <a:chOff x="0" y="0"/>
            <a:chExt cx="16845619" cy="1483408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16845619" cy="8450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02"/>
                </a:lnSpc>
              </a:pPr>
              <a:r>
                <a:rPr lang="en-US" sz="6752" spc="-135" b="true">
                  <a:solidFill>
                    <a:srgbClr val="000000"/>
                  </a:solidFill>
                  <a:latin typeface="Saira ExtraCondensed Bold"/>
                  <a:ea typeface="Saira ExtraCondensed Bold"/>
                  <a:cs typeface="Saira ExtraCondensed Bold"/>
                  <a:sym typeface="Saira ExtraCondensed Bold"/>
                </a:rPr>
                <a:t>Key Takeaways</a:t>
              </a:r>
            </a:p>
            <a:p>
              <a:pPr algn="l" marL="687270" indent="-343635" lvl="1">
                <a:lnSpc>
                  <a:spcPts val="3819"/>
                </a:lnSpc>
                <a:buFont typeface="Arial"/>
                <a:buChar char="•"/>
              </a:pPr>
              <a:r>
                <a:rPr lang="en-US" sz="3183" spc="-63">
                  <a:solidFill>
                    <a:srgbClr val="000000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 Improved operational efficiency</a:t>
              </a:r>
            </a:p>
            <a:p>
              <a:pPr algn="l" marL="687270" indent="-343635" lvl="1">
                <a:lnSpc>
                  <a:spcPts val="3819"/>
                </a:lnSpc>
                <a:buFont typeface="Arial"/>
                <a:buChar char="•"/>
              </a:pPr>
              <a:r>
                <a:rPr lang="en-US" sz="3183" spc="-63">
                  <a:solidFill>
                    <a:srgbClr val="000000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 Enhanced realtime visibility</a:t>
              </a:r>
            </a:p>
            <a:p>
              <a:pPr algn="l" marL="687270" indent="-343635" lvl="1">
                <a:lnSpc>
                  <a:spcPts val="3819"/>
                </a:lnSpc>
                <a:buFont typeface="Arial"/>
                <a:buChar char="•"/>
              </a:pPr>
              <a:r>
                <a:rPr lang="en-US" sz="3183" spc="-63">
                  <a:solidFill>
                    <a:srgbClr val="000000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 Reduced manual workflow dependency</a:t>
              </a:r>
            </a:p>
            <a:p>
              <a:pPr algn="l">
                <a:lnSpc>
                  <a:spcPts val="8102"/>
                </a:lnSpc>
              </a:pPr>
            </a:p>
            <a:p>
              <a:pPr algn="l">
                <a:lnSpc>
                  <a:spcPts val="8102"/>
                </a:lnSpc>
              </a:pPr>
            </a:p>
            <a:p>
              <a:pPr algn="l">
                <a:lnSpc>
                  <a:spcPts val="8102"/>
                </a:lnSpc>
              </a:pPr>
            </a:p>
            <a:p>
              <a:pPr algn="l" marL="0" indent="0" lvl="0">
                <a:lnSpc>
                  <a:spcPts val="6482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32184" y="13190069"/>
              <a:ext cx="6719307" cy="1644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Sử dụng các tài nguyên thiết kế này trong Bản thuyết trình Canva của bạn. Thiết kế vui vẻ!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Hãy xóa trang này trước khi trình bày.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128127" y="9020488"/>
            <a:ext cx="6714919" cy="35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Thank You 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DAHLCX7xG84</dc:identifier>
  <dcterms:modified xsi:type="dcterms:W3CDTF">2011-08-01T06:04:30Z</dcterms:modified>
  <cp:revision>1</cp:revision>
  <dc:title>Agricultural Product Distribution System</dc:title>
</cp:coreProperties>
</file>